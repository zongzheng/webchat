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5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2017/9/21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627784" y="0"/>
            <a:ext cx="5400600" cy="1046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现代林业与生态</a:t>
            </a:r>
            <a:endParaRPr lang="en-US" altLang="zh-CN" sz="4400" b="1" dirty="0" smtClean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  <a:p>
            <a:r>
              <a:rPr lang="en-US" altLang="zh-CN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Modern Forestry and Ecology</a:t>
            </a:r>
            <a:endParaRPr lang="zh-CN" altLang="en-US" b="1" i="1" dirty="0">
              <a:latin typeface="Verdana" pitchFamily="34" charset="0"/>
              <a:ea typeface="隶书" pitchFamily="49" charset="-122"/>
              <a:cs typeface="Verdana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87624" y="908720"/>
            <a:ext cx="6984776" cy="5064863"/>
            <a:chOff x="1187624" y="908720"/>
            <a:chExt cx="6984776" cy="5064863"/>
          </a:xfrm>
        </p:grpSpPr>
        <p:grpSp>
          <p:nvGrpSpPr>
            <p:cNvPr id="12" name="组合 11"/>
            <p:cNvGrpSpPr/>
            <p:nvPr/>
          </p:nvGrpSpPr>
          <p:grpSpPr>
            <a:xfrm>
              <a:off x="1259632" y="908720"/>
              <a:ext cx="6912768" cy="3528392"/>
              <a:chOff x="1115616" y="476672"/>
              <a:chExt cx="8023407" cy="5061724"/>
            </a:xfrm>
            <a:solidFill>
              <a:srgbClr val="92D050"/>
            </a:solidFill>
          </p:grpSpPr>
          <p:pic>
            <p:nvPicPr>
              <p:cNvPr id="11" name="图片 10" descr="06d12e5f3b45feb041e19687602d6d8a.jpg"/>
              <p:cNvPicPr>
                <a:picLocks noChangeAspect="1"/>
              </p:cNvPicPr>
              <p:nvPr/>
            </p:nvPicPr>
            <p:blipFill>
              <a:blip r:embed="rId2" cstate="print"/>
              <a:srcRect b="5660"/>
              <a:stretch>
                <a:fillRect/>
              </a:stretch>
            </p:blipFill>
            <p:spPr>
              <a:xfrm rot="19850903">
                <a:off x="1353587" y="1649964"/>
                <a:ext cx="7785436" cy="3888432"/>
              </a:xfrm>
              <a:prstGeom prst="ellipse">
                <a:avLst/>
              </a:prstGeom>
              <a:grpFill/>
              <a:ln>
                <a:noFill/>
              </a:ln>
              <a:effectLst>
                <a:softEdge rad="112500"/>
              </a:effectLst>
            </p:spPr>
          </p:pic>
          <p:grpSp>
            <p:nvGrpSpPr>
              <p:cNvPr id="10" name="组合 9"/>
              <p:cNvGrpSpPr/>
              <p:nvPr/>
            </p:nvGrpSpPr>
            <p:grpSpPr>
              <a:xfrm>
                <a:off x="1115616" y="476672"/>
                <a:ext cx="6480720" cy="4536505"/>
                <a:chOff x="539552" y="1556792"/>
                <a:chExt cx="6480720" cy="4536505"/>
              </a:xfrm>
              <a:grpFill/>
            </p:grpSpPr>
            <p:pic>
              <p:nvPicPr>
                <p:cNvPr id="9" name="图片 8" descr="06d12e5f3b45feb041e19687602d6d8a.jpg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539552" y="1556792"/>
                  <a:ext cx="4752528" cy="4536505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softEdge rad="112500"/>
                </a:effectLst>
              </p:spPr>
            </p:pic>
            <p:pic>
              <p:nvPicPr>
                <p:cNvPr id="4" name="图片 3" descr="06d12e5f3b45feb041e19687602d6d8a.jpg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267745" y="1556792"/>
                  <a:ext cx="4752527" cy="4536504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softEdge rad="112500"/>
                </a:effectLst>
              </p:spPr>
            </p:pic>
          </p:grpSp>
        </p:grpSp>
        <p:pic>
          <p:nvPicPr>
            <p:cNvPr id="20" name="图片 19" descr="图片2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624" y="4797152"/>
              <a:ext cx="6912768" cy="11764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0"/>
          <p:cNvGrpSpPr/>
          <p:nvPr/>
        </p:nvGrpSpPr>
        <p:grpSpPr>
          <a:xfrm>
            <a:off x="1259632" y="1052735"/>
            <a:ext cx="6480720" cy="4536505"/>
            <a:chOff x="1187624" y="908720"/>
            <a:chExt cx="6984776" cy="5064863"/>
          </a:xfrm>
        </p:grpSpPr>
        <p:grpSp>
          <p:nvGrpSpPr>
            <p:cNvPr id="3" name="组合 11"/>
            <p:cNvGrpSpPr/>
            <p:nvPr/>
          </p:nvGrpSpPr>
          <p:grpSpPr>
            <a:xfrm>
              <a:off x="1259632" y="908720"/>
              <a:ext cx="6912768" cy="3528392"/>
              <a:chOff x="1115616" y="476672"/>
              <a:chExt cx="8023407" cy="5061724"/>
            </a:xfrm>
            <a:solidFill>
              <a:srgbClr val="92D050"/>
            </a:solidFill>
          </p:grpSpPr>
          <p:pic>
            <p:nvPicPr>
              <p:cNvPr id="11" name="图片 10" descr="06d12e5f3b45feb041e19687602d6d8a.jpg"/>
              <p:cNvPicPr>
                <a:picLocks noChangeAspect="1"/>
              </p:cNvPicPr>
              <p:nvPr/>
            </p:nvPicPr>
            <p:blipFill>
              <a:blip r:embed="rId2" cstate="print"/>
              <a:srcRect b="5660"/>
              <a:stretch>
                <a:fillRect/>
              </a:stretch>
            </p:blipFill>
            <p:spPr>
              <a:xfrm rot="19850903">
                <a:off x="1353587" y="1649964"/>
                <a:ext cx="7785436" cy="3888432"/>
              </a:xfrm>
              <a:prstGeom prst="ellipse">
                <a:avLst/>
              </a:prstGeom>
              <a:grpFill/>
              <a:ln>
                <a:noFill/>
              </a:ln>
              <a:effectLst>
                <a:softEdge rad="112500"/>
              </a:effectLst>
            </p:spPr>
          </p:pic>
          <p:grpSp>
            <p:nvGrpSpPr>
              <p:cNvPr id="5" name="组合 9"/>
              <p:cNvGrpSpPr/>
              <p:nvPr/>
            </p:nvGrpSpPr>
            <p:grpSpPr>
              <a:xfrm>
                <a:off x="1115616" y="476672"/>
                <a:ext cx="6480720" cy="4536505"/>
                <a:chOff x="539552" y="1556792"/>
                <a:chExt cx="6480720" cy="4536505"/>
              </a:xfrm>
              <a:grpFill/>
            </p:grpSpPr>
            <p:pic>
              <p:nvPicPr>
                <p:cNvPr id="9" name="图片 8" descr="06d12e5f3b45feb041e19687602d6d8a.jpg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539552" y="1556792"/>
                  <a:ext cx="4752528" cy="4536505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softEdge rad="112500"/>
                </a:effectLst>
              </p:spPr>
            </p:pic>
            <p:pic>
              <p:nvPicPr>
                <p:cNvPr id="4" name="图片 3" descr="06d12e5f3b45feb041e19687602d6d8a.jpg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267745" y="1556792"/>
                  <a:ext cx="4752527" cy="4536504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softEdge rad="112500"/>
                </a:effectLst>
              </p:spPr>
            </p:pic>
          </p:grpSp>
        </p:grpSp>
        <p:pic>
          <p:nvPicPr>
            <p:cNvPr id="20" name="图片 19" descr="图片2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624" y="4797152"/>
              <a:ext cx="6912768" cy="11764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332656"/>
            <a:ext cx="9144000" cy="4104456"/>
            <a:chOff x="0" y="332656"/>
            <a:chExt cx="9144000" cy="4104456"/>
          </a:xfrm>
        </p:grpSpPr>
        <p:pic>
          <p:nvPicPr>
            <p:cNvPr id="10" name="图片 9" descr="06d12e5f3b45feb041e19687602d6d8a.jpg"/>
            <p:cNvPicPr>
              <a:picLocks noChangeAspect="1"/>
            </p:cNvPicPr>
            <p:nvPr/>
          </p:nvPicPr>
          <p:blipFill>
            <a:blip r:embed="rId2" cstate="print">
              <a:lum bright="2000"/>
            </a:blip>
            <a:srcRect b="7497"/>
            <a:stretch>
              <a:fillRect/>
            </a:stretch>
          </p:blipFill>
          <p:spPr>
            <a:xfrm>
              <a:off x="0" y="379476"/>
              <a:ext cx="9144000" cy="4057636"/>
            </a:xfrm>
            <a:prstGeom prst="rect">
              <a:avLst/>
            </a:prstGeom>
          </p:spPr>
        </p:pic>
        <p:pic>
          <p:nvPicPr>
            <p:cNvPr id="12" name="图片 11" descr="qrcode_for_gh_259101871f2e_430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2754" y="332656"/>
              <a:ext cx="4095750" cy="409575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3" name="图片 12" descr="图片2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520" y="452369"/>
              <a:ext cx="4602100" cy="117643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2008" y="1918087"/>
              <a:ext cx="5004048" cy="2392963"/>
            </a:xfrm>
            <a:prstGeom prst="rect">
              <a:avLst/>
            </a:prstGeom>
            <a:solidFill>
              <a:schemeClr val="lt1"/>
            </a:solidFill>
            <a:ln w="85725">
              <a:solidFill>
                <a:schemeClr val="accent3">
                  <a:alpha val="44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zh-CN" altLang="en-US" sz="2800" b="1" dirty="0" smtClean="0">
                  <a:solidFill>
                    <a:srgbClr val="7030A0"/>
                  </a:solidFill>
                  <a:latin typeface="Verdana" pitchFamily="34" charset="0"/>
                  <a:ea typeface="隶书" pitchFamily="49" charset="-122"/>
                  <a:cs typeface="Verdana" pitchFamily="34" charset="0"/>
                </a:rPr>
                <a:t>学术动态</a:t>
              </a:r>
              <a:r>
                <a:rPr lang="en-US" altLang="zh-CN" sz="2800" b="1" dirty="0" smtClean="0">
                  <a:solidFill>
                    <a:srgbClr val="7030A0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|</a:t>
              </a:r>
              <a:r>
                <a:rPr lang="zh-CN" altLang="en-US" sz="2800" b="1" dirty="0" smtClean="0">
                  <a:solidFill>
                    <a:srgbClr val="7030A0"/>
                  </a:solidFill>
                  <a:latin typeface="Verdana" pitchFamily="34" charset="0"/>
                  <a:ea typeface="隶书" pitchFamily="49" charset="-122"/>
                  <a:cs typeface="Verdana" pitchFamily="34" charset="0"/>
                </a:rPr>
                <a:t>研究方法</a:t>
              </a:r>
              <a:r>
                <a:rPr lang="en-US" altLang="zh-CN" sz="2800" b="1" dirty="0" smtClean="0">
                  <a:solidFill>
                    <a:srgbClr val="7030A0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|</a:t>
              </a:r>
              <a:r>
                <a:rPr lang="zh-CN" altLang="en-US" sz="2800" b="1" dirty="0" smtClean="0">
                  <a:solidFill>
                    <a:srgbClr val="7030A0"/>
                  </a:solidFill>
                  <a:latin typeface="Verdana" pitchFamily="34" charset="0"/>
                  <a:ea typeface="隶书" pitchFamily="49" charset="-122"/>
                  <a:cs typeface="Verdana" pitchFamily="34" charset="0"/>
                </a:rPr>
                <a:t>专业知识</a:t>
              </a:r>
              <a:endParaRPr lang="en-US" altLang="zh-CN" sz="2800" b="1" dirty="0" smtClean="0">
                <a:solidFill>
                  <a:srgbClr val="7030A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algn="ctr">
                <a:lnSpc>
                  <a:spcPts val="4500"/>
                </a:lnSpc>
              </a:pPr>
              <a:r>
                <a:rPr lang="en-US" altLang="zh-CN" sz="4400" b="1" dirty="0" smtClean="0">
                  <a:solidFill>
                    <a:srgbClr val="7030A0"/>
                  </a:solidFill>
                  <a:latin typeface="Times New Roman" pitchFamily="18" charset="0"/>
                  <a:ea typeface="Verdana" pitchFamily="34" charset="0"/>
                  <a:cs typeface="Times New Roman" pitchFamily="18" charset="0"/>
                </a:rPr>
                <a:t>R</a:t>
              </a:r>
              <a:r>
                <a:rPr lang="zh-CN" altLang="en-US" sz="2800" b="1" dirty="0" smtClean="0">
                  <a:solidFill>
                    <a:srgbClr val="7030A0"/>
                  </a:solidFill>
                  <a:latin typeface="Verdana" pitchFamily="34" charset="0"/>
                  <a:ea typeface="隶书" pitchFamily="49" charset="-122"/>
                  <a:cs typeface="Verdana" pitchFamily="34" charset="0"/>
                </a:rPr>
                <a:t>语言统计分析及图形可视化</a:t>
              </a:r>
              <a:endParaRPr lang="en-US" altLang="zh-CN" sz="3200" b="1" dirty="0" smtClean="0">
                <a:solidFill>
                  <a:srgbClr val="7030A0"/>
                </a:solidFill>
                <a:latin typeface="隶书" pitchFamily="49" charset="-122"/>
                <a:ea typeface="隶书" pitchFamily="49" charset="-122"/>
              </a:endParaRPr>
            </a:p>
            <a:p>
              <a:pPr algn="ctr">
                <a:lnSpc>
                  <a:spcPts val="4500"/>
                </a:lnSpc>
                <a:spcBef>
                  <a:spcPts val="600"/>
                </a:spcBef>
              </a:pPr>
              <a:r>
                <a:rPr lang="zh-CN" altLang="en-US" sz="3600" b="1" dirty="0" smtClean="0">
                  <a:solidFill>
                    <a:schemeClr val="tx2"/>
                  </a:solidFill>
                  <a:latin typeface="隶书" pitchFamily="49" charset="-122"/>
                  <a:ea typeface="隶书" pitchFamily="49" charset="-122"/>
                </a:rPr>
                <a:t>长按二维码关注公众号</a:t>
              </a:r>
              <a:endParaRPr lang="en-US" altLang="zh-CN" sz="3600" b="1" i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endParaRPr>
            </a:p>
            <a:p>
              <a:pPr algn="ctr"/>
              <a:endParaRPr lang="en-US" altLang="zh-CN" sz="1600" b="1" i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algn="ctr"/>
              <a:r>
                <a:rPr lang="en-US" altLang="zh-CN" sz="1600" b="1" i="1" dirty="0" smtClean="0">
                  <a:solidFill>
                    <a:srgbClr val="FF0000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Email: </a:t>
              </a:r>
              <a:r>
                <a:rPr lang="en-US" altLang="zh-CN" sz="1600" b="1" dirty="0" smtClean="0">
                  <a:latin typeface="Times New Roman" pitchFamily="18" charset="0"/>
                  <a:ea typeface="Verdana" pitchFamily="34" charset="0"/>
                  <a:cs typeface="Times New Roman" pitchFamily="18" charset="0"/>
                </a:rPr>
                <a:t>chaizz@126.com</a:t>
              </a:r>
              <a:endParaRPr lang="zh-CN" altLang="en-US" sz="1600" b="1" dirty="0">
                <a:latin typeface="Times New Roman" pitchFamily="18" charset="0"/>
                <a:ea typeface="隶书" pitchFamily="49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"/>
          <p:cNvGrpSpPr/>
          <p:nvPr/>
        </p:nvGrpSpPr>
        <p:grpSpPr>
          <a:xfrm>
            <a:off x="0" y="332656"/>
            <a:ext cx="9180512" cy="4104456"/>
            <a:chOff x="0" y="332656"/>
            <a:chExt cx="9180512" cy="4104456"/>
          </a:xfrm>
        </p:grpSpPr>
        <p:pic>
          <p:nvPicPr>
            <p:cNvPr id="10" name="图片 9" descr="06d12e5f3b45feb041e19687602d6d8a.jpg"/>
            <p:cNvPicPr>
              <a:picLocks noChangeAspect="1"/>
            </p:cNvPicPr>
            <p:nvPr/>
          </p:nvPicPr>
          <p:blipFill>
            <a:blip r:embed="rId2" cstate="print">
              <a:lum bright="2000"/>
            </a:blip>
            <a:srcRect b="7497"/>
            <a:stretch>
              <a:fillRect/>
            </a:stretch>
          </p:blipFill>
          <p:spPr>
            <a:xfrm>
              <a:off x="0" y="379476"/>
              <a:ext cx="9144000" cy="4057636"/>
            </a:xfrm>
            <a:prstGeom prst="rect">
              <a:avLst/>
            </a:prstGeom>
          </p:spPr>
        </p:pic>
        <p:pic>
          <p:nvPicPr>
            <p:cNvPr id="12" name="图片 11" descr="qrcode_for_gh_259101871f2e_430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4762" y="332656"/>
              <a:ext cx="4095750" cy="409575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3" name="图片 12" descr="图片2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520" y="452369"/>
              <a:ext cx="4602100" cy="117643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07504" y="1628800"/>
              <a:ext cx="5004048" cy="2669962"/>
            </a:xfrm>
            <a:prstGeom prst="rect">
              <a:avLst/>
            </a:prstGeom>
            <a:solidFill>
              <a:schemeClr val="lt1"/>
            </a:solidFill>
            <a:ln w="85725">
              <a:solidFill>
                <a:schemeClr val="accent3">
                  <a:alpha val="44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zh-CN" altLang="en-US" sz="2800" b="1" dirty="0" smtClean="0">
                  <a:solidFill>
                    <a:srgbClr val="7030A0"/>
                  </a:solidFill>
                  <a:latin typeface="Verdana" pitchFamily="34" charset="0"/>
                  <a:ea typeface="隶书" pitchFamily="49" charset="-122"/>
                  <a:cs typeface="Verdana" pitchFamily="34" charset="0"/>
                </a:rPr>
                <a:t>学术动态</a:t>
              </a:r>
              <a:r>
                <a:rPr lang="en-US" altLang="zh-CN" sz="2800" b="1" dirty="0" smtClean="0">
                  <a:solidFill>
                    <a:srgbClr val="7030A0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|</a:t>
              </a:r>
              <a:r>
                <a:rPr lang="zh-CN" altLang="en-US" sz="2800" b="1" dirty="0" smtClean="0">
                  <a:solidFill>
                    <a:srgbClr val="7030A0"/>
                  </a:solidFill>
                  <a:latin typeface="Verdana" pitchFamily="34" charset="0"/>
                  <a:ea typeface="隶书" pitchFamily="49" charset="-122"/>
                  <a:cs typeface="Verdana" pitchFamily="34" charset="0"/>
                </a:rPr>
                <a:t>研究方法</a:t>
              </a:r>
              <a:r>
                <a:rPr lang="en-US" altLang="zh-CN" sz="2800" b="1" dirty="0" smtClean="0">
                  <a:solidFill>
                    <a:srgbClr val="7030A0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|</a:t>
              </a:r>
              <a:r>
                <a:rPr lang="zh-CN" altLang="en-US" sz="2800" b="1" dirty="0" smtClean="0">
                  <a:solidFill>
                    <a:srgbClr val="7030A0"/>
                  </a:solidFill>
                  <a:latin typeface="Verdana" pitchFamily="34" charset="0"/>
                  <a:ea typeface="隶书" pitchFamily="49" charset="-122"/>
                  <a:cs typeface="Verdana" pitchFamily="34" charset="0"/>
                </a:rPr>
                <a:t>专业知识</a:t>
              </a:r>
              <a:endParaRPr lang="en-US" altLang="zh-CN" sz="2800" b="1" dirty="0" smtClean="0">
                <a:solidFill>
                  <a:srgbClr val="7030A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  <a:p>
              <a:pPr algn="ctr">
                <a:lnSpc>
                  <a:spcPts val="4500"/>
                </a:lnSpc>
              </a:pPr>
              <a:r>
                <a:rPr lang="en-US" altLang="zh-CN" sz="4400" b="1" dirty="0" smtClean="0">
                  <a:solidFill>
                    <a:srgbClr val="7030A0"/>
                  </a:solidFill>
                  <a:latin typeface="Times New Roman" pitchFamily="18" charset="0"/>
                  <a:ea typeface="Verdana" pitchFamily="34" charset="0"/>
                  <a:cs typeface="Times New Roman" pitchFamily="18" charset="0"/>
                </a:rPr>
                <a:t>R</a:t>
              </a:r>
              <a:r>
                <a:rPr lang="zh-CN" altLang="en-US" sz="2800" b="1" dirty="0" smtClean="0">
                  <a:solidFill>
                    <a:srgbClr val="7030A0"/>
                  </a:solidFill>
                  <a:latin typeface="Verdana" pitchFamily="34" charset="0"/>
                  <a:ea typeface="隶书" pitchFamily="49" charset="-122"/>
                  <a:cs typeface="Verdana" pitchFamily="34" charset="0"/>
                </a:rPr>
                <a:t>语言统计分析及图形可视化</a:t>
              </a:r>
              <a:endParaRPr lang="en-US" altLang="zh-CN" sz="3200" b="1" dirty="0" smtClean="0">
                <a:solidFill>
                  <a:srgbClr val="7030A0"/>
                </a:solidFill>
                <a:latin typeface="隶书" pitchFamily="49" charset="-122"/>
                <a:ea typeface="隶书" pitchFamily="49" charset="-122"/>
              </a:endParaRPr>
            </a:p>
            <a:p>
              <a:pPr algn="ctr">
                <a:lnSpc>
                  <a:spcPts val="4500"/>
                </a:lnSpc>
                <a:spcBef>
                  <a:spcPts val="600"/>
                </a:spcBef>
              </a:pPr>
              <a:r>
                <a:rPr lang="zh-CN" altLang="en-US" sz="3600" b="1" dirty="0" smtClean="0">
                  <a:solidFill>
                    <a:schemeClr val="tx2"/>
                  </a:solidFill>
                  <a:latin typeface="隶书" pitchFamily="49" charset="-122"/>
                  <a:ea typeface="隶书" pitchFamily="49" charset="-122"/>
                </a:rPr>
                <a:t>长按二维码关注公众号</a:t>
              </a:r>
              <a:endParaRPr lang="en-US" altLang="zh-CN" sz="3600" b="1" i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endParaRPr>
            </a:p>
            <a:p>
              <a:pPr>
                <a:lnSpc>
                  <a:spcPts val="2000"/>
                </a:lnSpc>
              </a:pPr>
              <a:r>
                <a:rPr lang="zh-CN" altLang="en-US" sz="1200" b="1" dirty="0" smtClean="0">
                  <a:solidFill>
                    <a:srgbClr val="FF0000"/>
                  </a:solidFill>
                  <a:latin typeface="Times New Roman" pitchFamily="18" charset="0"/>
                  <a:ea typeface="隶书" pitchFamily="49" charset="-122"/>
                  <a:cs typeface="Times New Roman" pitchFamily="18" charset="0"/>
                </a:rPr>
                <a:t>创建人简介：</a:t>
              </a:r>
              <a:r>
                <a:rPr lang="zh-CN" altLang="en-US" sz="1200" dirty="0" smtClean="0">
                  <a:latin typeface="Times New Roman" pitchFamily="18" charset="0"/>
                  <a:ea typeface="隶书" pitchFamily="49" charset="-122"/>
                  <a:cs typeface="Times New Roman" pitchFamily="18" charset="0"/>
                </a:rPr>
                <a:t>柴宗政博士，</a:t>
              </a:r>
              <a:r>
                <a:rPr lang="zh-CN" altLang="en-US" sz="1200" dirty="0" smtClean="0">
                  <a:latin typeface="Times New Roman" pitchFamily="18" charset="0"/>
                  <a:ea typeface="隶书" pitchFamily="49" charset="-122"/>
                  <a:cs typeface="Times New Roman" pitchFamily="18" charset="0"/>
                </a:rPr>
                <a:t>贵州大学林学院教师</a:t>
              </a:r>
              <a:r>
                <a:rPr lang="zh-CN" altLang="en-US" sz="1200" dirty="0" smtClean="0">
                  <a:latin typeface="Times New Roman" pitchFamily="18" charset="0"/>
                  <a:ea typeface="隶书" pitchFamily="49" charset="-122"/>
                  <a:cs typeface="Times New Roman" pitchFamily="18" charset="0"/>
                </a:rPr>
                <a:t>，毕业于西北农林科技大学森林经理学专业，主要从事森林经营，植被生态及生态模型等方面的研究，擅长应用</a:t>
              </a:r>
              <a:r>
                <a:rPr lang="en-US" altLang="zh-CN" sz="1200" dirty="0" smtClean="0">
                  <a:latin typeface="Times New Roman" pitchFamily="18" charset="0"/>
                  <a:ea typeface="隶书" pitchFamily="49" charset="-122"/>
                  <a:cs typeface="Times New Roman" pitchFamily="18" charset="0"/>
                </a:rPr>
                <a:t>R</a:t>
              </a:r>
              <a:r>
                <a:rPr lang="zh-CN" altLang="en-US" sz="1200" dirty="0" smtClean="0">
                  <a:latin typeface="Times New Roman" pitchFamily="18" charset="0"/>
                  <a:ea typeface="隶书" pitchFamily="49" charset="-122"/>
                  <a:cs typeface="Times New Roman" pitchFamily="18" charset="0"/>
                </a:rPr>
                <a:t>语言编程解决生态学问题。 </a:t>
              </a:r>
              <a:r>
                <a:rPr lang="en-US" altLang="zh-CN" sz="1200" dirty="0" smtClean="0">
                  <a:latin typeface="Times New Roman" pitchFamily="18" charset="0"/>
                  <a:ea typeface="隶书" pitchFamily="49" charset="-122"/>
                  <a:cs typeface="Times New Roman" pitchFamily="18" charset="0"/>
                </a:rPr>
                <a:t>Email: chaizz@126.com</a:t>
              </a:r>
              <a:endParaRPr lang="zh-CN" altLang="en-US" sz="1200" dirty="0">
                <a:latin typeface="Times New Roman" pitchFamily="18" charset="0"/>
                <a:ea typeface="隶书" pitchFamily="49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98</Words>
  <Application>Microsoft Office PowerPoint</Application>
  <PresentationFormat>全屏显示(4:3)</PresentationFormat>
  <Paragraphs>11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幻灯片 1</vt:lpstr>
      <vt:lpstr>幻灯片 2</vt:lpstr>
      <vt:lpstr>幻灯片 3</vt:lpstr>
      <vt:lpstr>幻灯片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tanwei</dc:creator>
  <cp:lastModifiedBy>tanwei</cp:lastModifiedBy>
  <cp:revision>16</cp:revision>
  <dcterms:created xsi:type="dcterms:W3CDTF">2017-09-21T01:55:36Z</dcterms:created>
  <dcterms:modified xsi:type="dcterms:W3CDTF">2017-09-21T05:00:55Z</dcterms:modified>
</cp:coreProperties>
</file>